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e9250fb-7c02-9f77-a05c-df16715b44fa}">
          <p14:sldIdLst>
            <p14:sldId id="256"/>
            <p14:sldId id="257"/>
          </p14:sldIdLst>
        </p14:section>
        <p14:section name="Method" id="{2d63df9d-72f7-d976-9f00-a2d6f112a804}">
          <p14:sldIdLst>
            <p14:sldId id="258"/>
            <p14:sldId id="259"/>
          </p14:sldIdLst>
        </p14:section>
        <p14:section name="Findings" id="{d5d102fe-b2e0-36d7-d268-db54095596d8}">
          <p14:sldIdLst>
            <p14:sldId id="260"/>
            <p14:sldId id="261"/>
            <p14:sldId id="262"/>
          </p14:sldIdLst>
        </p14:section>
        <p14:section name="Wrap-up" id="{1b5ecd19-e2f5-c94f-576d-26538176876f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0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02F"/>
                </a:solidFill>
                <a:latin typeface="+mn-lt"/>
              </a:rPr>
              <a:t>Orders per month, 2024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E7D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23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E7D6B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2192</c:v>
                </c:pt>
                <c:pt idx="1">
                  <c:v>1924</c:v>
                </c:pt>
                <c:pt idx="2">
                  <c:v>2434</c:v>
                </c:pt>
                <c:pt idx="3">
                  <c:v>2056</c:v>
                </c:pt>
                <c:pt idx="4">
                  <c:v>2029</c:v>
                </c:pt>
                <c:pt idx="5">
                  <c:v>2081</c:v>
                </c:pt>
                <c:pt idx="6">
                  <c:v>2060</c:v>
                </c:pt>
                <c:pt idx="7">
                  <c:v>2037</c:v>
                </c:pt>
                <c:pt idx="8">
                  <c:v>2033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230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302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  <c:min val="0"/>
        </c:scaling>
        <c:delete val="0"/>
        <c:axPos val="l"/>
        <c:majorGridlines>
          <c:spPr>
            <a:ln w="9525" cap="flat">
              <a:solidFill>
                <a:srgbClr val="DCE5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47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 full analytics pipeline on a messy Lahore food delivery dataset. The data is synthetic, built for portfolio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stages. The business question frames every later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notebook handles dates, text numbers, nulls and feature engineering. Remaining gaps are listed on the issues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query targets one question: where delays happen, which riders are slow, which categories cancel most, and how demand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Orders come from the month-over-month query (Jan to Sep 2024). The revenue swings are far larger than the order swings, which points to outliers in order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Layout of the single report page: KPI row, rider table, hourly demand line chart and area map. Replace this wireframe with a dashboard screenshot if you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limits is a strength: these were found by checking query output against the raw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skills demonstrated and the concrete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828800"/>
            <a:ext cx="73152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4023360"/>
            <a:ext cx="7315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828800"/>
            <a:ext cx="7315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Lahore Food Delivery: Demand and Delay Analysis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40233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Python, MySQL and Power BI on 51,150 orders, 2024 to 2025 (synthetic data)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Umair Asif, Data Analyst Portfolio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8503920" y="1554480"/>
            <a:ext cx="3383280" cy="33832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Hero inner circle"/>
          <p:cNvSpPr/>
          <p:nvPr/>
        </p:nvSpPr>
        <p:spPr>
          <a:xfrm>
            <a:off x="9006840" y="2057400"/>
            <a:ext cx="2377440" cy="23774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00684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51,150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00684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orders analysed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One pipeline, four tools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0876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1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Excel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First look at the raw file to spot messy dates, text numbers and spelling variants.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383280" y="150876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ep number 2"/>
          <p:cNvSpPr/>
          <p:nvPr/>
        </p:nvSpPr>
        <p:spPr>
          <a:xfrm>
            <a:off x="361188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423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Python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9718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Cleaned 51,150 rows in pandas and engineered hour, weekday and delay features.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217920" y="150876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tep number 3"/>
          <p:cNvSpPr/>
          <p:nvPr/>
        </p:nvSpPr>
        <p:spPr>
          <a:xfrm>
            <a:off x="644652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423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MySQL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9718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Loaded the cleaned table and wrote four queries with aggregations and window functions.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9052560" y="150876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ep number 4"/>
          <p:cNvSpPr/>
          <p:nvPr/>
        </p:nvSpPr>
        <p:spPr>
          <a:xfrm>
            <a:off x="928116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423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Power BI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9718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Built a one-page dashboard with KPI cards, a rider table, a demand curve and an area map.</a:t>
            </a:r>
            <a:endParaRPr lang="en-US" sz="1400" dirty="0"/>
          </a:p>
        </p:txBody>
      </p:sp>
      <p:sp>
        <p:nvSpPr>
          <p:cNvPr id="23" name="Question banner"/>
          <p:cNvSpPr/>
          <p:nvPr/>
        </p:nvSpPr>
        <p:spPr>
          <a:xfrm>
            <a:off x="548640" y="5074920"/>
            <a:ext cx="1110996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74920"/>
            <a:ext cx="1056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Business question  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Where and when do deliveries get delayed or cancelled, and what should a platform do about it?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Cleaning 51,150 messy rows in pandas</a:t>
            </a:r>
            <a:endParaRPr lang="en-US" sz="3200" dirty="0"/>
          </a:p>
        </p:txBody>
      </p:sp>
      <p:sp>
        <p:nvSpPr>
          <p:cNvPr id="3" name="Stats panel"/>
          <p:cNvSpPr/>
          <p:nvPr/>
        </p:nvSpPr>
        <p:spPr>
          <a:xfrm>
            <a:off x="548640" y="1463040"/>
            <a:ext cx="3108960" cy="4572000"/>
          </a:xfrm>
          <a:prstGeom prst="roundRect">
            <a:avLst>
              <a:gd name="adj" fmla="val 35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51,150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423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raw rows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089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columns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526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2024-25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order dates</a:t>
            </a:r>
            <a:endParaRPr lang="en-US" sz="1600" dirty="0"/>
          </a:p>
        </p:txBody>
      </p:sp>
      <p:graphicFrame>
        <p:nvGraphicFramePr>
          <p:cNvPr id="4" name="Clean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463040"/>
          <a:ext cx="7726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617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Problem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Mixed date formats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Parsed with to_datetime (mixed, day first)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"Rs. 1,750" stored as text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Stripped the currency text, converted to numbers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Units inside numbers ("5 km")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Removed brackets and units, then to_numeric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Missing numeric values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Filled with medians, by area where possible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Missing categories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Filled with the mode (weather) or "Unknown"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Blank cancel reasons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Labelled "Not canceled"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time features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Added hour, weekday, iftar and dinner flags, plus a delay flag (over 45 min)</a:t>
                      </a:r>
                      <a:endParaRPr lang="en-US" sz="1400" dirty="0"/>
                    </a:p>
                  </a:txBody>
                  <a:tcPr marL="109728" marR="109728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Four SQL queries answer the core questions</a:t>
            </a:r>
            <a:endParaRPr lang="en-US" sz="3200" dirty="0"/>
          </a:p>
        </p:txBody>
      </p:sp>
      <p:sp>
        <p:nvSpPr>
          <p:cNvPr id="3" name="Query card 1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ry number 1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Delay by area and hour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delivery and total time, plus the share of orders over 45 minutes, for every area-hour slot.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Shows which slots run late.</a:t>
            </a:r>
            <a:endParaRPr lang="en-US" sz="1400" dirty="0"/>
          </a:p>
        </p:txBody>
      </p:sp>
      <p:sp>
        <p:nvSpPr>
          <p:cNvPr id="9" name="Query card 2"/>
          <p:cNvSpPr/>
          <p:nvPr/>
        </p:nvSpPr>
        <p:spPr>
          <a:xfrm>
            <a:off x="621792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Query number 2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691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Rider performance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delivery time, minutes per km and a percentile tier for each rider and vehicle.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Slowest rider in view: R062 (car), 63.8 min.</a:t>
            </a:r>
            <a:endParaRPr lang="en-US" sz="1400" dirty="0"/>
          </a:p>
        </p:txBody>
      </p:sp>
      <p:sp>
        <p:nvSpPr>
          <p:cNvPr id="15" name="Query card 3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Query number 3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Cancellation rate by category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00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Total, completed and cancelled orders across nine standardized categories.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577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Needs a status fix, see the issues slide.</a:t>
            </a:r>
            <a:endParaRPr lang="en-US" sz="1400" dirty="0"/>
          </a:p>
        </p:txBody>
      </p:sp>
      <p:sp>
        <p:nvSpPr>
          <p:cNvPr id="21" name="Query card 4"/>
          <p:cNvSpPr/>
          <p:nvPr/>
        </p:nvSpPr>
        <p:spPr>
          <a:xfrm>
            <a:off x="6217920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Query number 4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160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Month-over-month growth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800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Orders and gross revenue against the previous month, using a window function.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5577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Orders +26.5% in March 2024.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March 2024 spike, then a steady 2,050 orders a month</a:t>
            </a:r>
            <a:endParaRPr lang="en-US" sz="3200" dirty="0"/>
          </a:p>
        </p:txBody>
      </p:sp>
      <p:graphicFrame>
        <p:nvGraphicFramePr>
          <p:cNvPr id="3" name="Orders chart" descr=""/>
          <p:cNvGraphicFramePr/>
          <p:nvPr/>
        </p:nvGraphicFramePr>
        <p:xfrm>
          <a:off x="548640" y="1463040"/>
          <a:ext cx="7223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llout 1"/>
          <p:cNvSpPr/>
          <p:nvPr/>
        </p:nvSpPr>
        <p:spPr>
          <a:xfrm>
            <a:off x="8138160" y="1463040"/>
            <a:ext cx="352044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66760" y="1572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+26.5%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1488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March orders vs February. Ramadan began on 11 March.</a:t>
            </a:r>
            <a:endParaRPr lang="en-US" sz="1400" dirty="0"/>
          </a:p>
        </p:txBody>
      </p:sp>
      <p:sp>
        <p:nvSpPr>
          <p:cNvPr id="7" name="Callout 2"/>
          <p:cNvSpPr/>
          <p:nvPr/>
        </p:nvSpPr>
        <p:spPr>
          <a:xfrm>
            <a:off x="8138160" y="3035808"/>
            <a:ext cx="352044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366760" y="31455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~2,050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3721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orders a month from May to September.</a:t>
            </a:r>
            <a:endParaRPr lang="en-US" sz="1400" dirty="0"/>
          </a:p>
        </p:txBody>
      </p:sp>
      <p:sp>
        <p:nvSpPr>
          <p:cNvPr id="10" name="Callout 3"/>
          <p:cNvSpPr/>
          <p:nvPr/>
        </p:nvSpPr>
        <p:spPr>
          <a:xfrm>
            <a:off x="8138160" y="4608576"/>
            <a:ext cx="352044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66760" y="47183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-45% to +61%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5294376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revenue swings on flat orders, a sign of outliers.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Power BI dashboard at a glance</a:t>
            </a:r>
            <a:endParaRPr lang="en-US" sz="3200" dirty="0"/>
          </a:p>
        </p:txBody>
      </p:sp>
      <p:sp>
        <p:nvSpPr>
          <p:cNvPr id="3" name="KPI 1"/>
          <p:cNvSpPr/>
          <p:nvPr/>
        </p:nvSpPr>
        <p:spPr>
          <a:xfrm>
            <a:off x="548640" y="1463040"/>
            <a:ext cx="1792224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Total Orders</a:t>
            </a:r>
            <a:endParaRPr lang="en-US" sz="1500" dirty="0"/>
          </a:p>
        </p:txBody>
      </p:sp>
      <p:sp>
        <p:nvSpPr>
          <p:cNvPr id="5" name="KPI 2"/>
          <p:cNvSpPr/>
          <p:nvPr/>
        </p:nvSpPr>
        <p:spPr>
          <a:xfrm>
            <a:off x="2478024" y="1463040"/>
            <a:ext cx="1792224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9464" y="146304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Order Value (PKR)</a:t>
            </a:r>
            <a:endParaRPr lang="en-US" sz="1500" dirty="0"/>
          </a:p>
        </p:txBody>
      </p:sp>
      <p:sp>
        <p:nvSpPr>
          <p:cNvPr id="7" name="KPI 3"/>
          <p:cNvSpPr/>
          <p:nvPr/>
        </p:nvSpPr>
        <p:spPr>
          <a:xfrm>
            <a:off x="4407408" y="1463040"/>
            <a:ext cx="1792224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98848" y="146304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Cancellation Rate</a:t>
            </a:r>
            <a:endParaRPr lang="en-US" sz="1500" dirty="0"/>
          </a:p>
        </p:txBody>
      </p:sp>
      <p:sp>
        <p:nvSpPr>
          <p:cNvPr id="9" name="KPI 4"/>
          <p:cNvSpPr/>
          <p:nvPr/>
        </p:nvSpPr>
        <p:spPr>
          <a:xfrm>
            <a:off x="6336792" y="1463040"/>
            <a:ext cx="1792224" cy="868680"/>
          </a:xfrm>
          <a:prstGeom prst="roundRect">
            <a:avLst>
              <a:gd name="adj" fmla="val 105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463040"/>
            <a:ext cx="16093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On-Time %</a:t>
            </a:r>
            <a:endParaRPr lang="en-US" sz="1500" dirty="0"/>
          </a:p>
        </p:txBody>
      </p:sp>
      <p:sp>
        <p:nvSpPr>
          <p:cNvPr id="11" name="Rider table block"/>
          <p:cNvSpPr/>
          <p:nvPr/>
        </p:nvSpPr>
        <p:spPr>
          <a:xfrm>
            <a:off x="548640" y="2514600"/>
            <a:ext cx="2926080" cy="352044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Rider table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017520"/>
            <a:ext cx="2651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Rider, vehicle, total orders, On-Time % and rating.</a:t>
            </a:r>
            <a:endParaRPr lang="en-US" sz="1400" dirty="0"/>
          </a:p>
        </p:txBody>
      </p:sp>
      <p:sp>
        <p:nvSpPr>
          <p:cNvPr id="14" name="Demand curve block"/>
          <p:cNvSpPr/>
          <p:nvPr/>
        </p:nvSpPr>
        <p:spPr>
          <a:xfrm>
            <a:off x="3611880" y="2514600"/>
            <a:ext cx="45262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49040" y="26060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Hourly demand curve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01752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Orders by hour, one line per weekday.</a:t>
            </a:r>
            <a:endParaRPr lang="en-US" sz="1400" dirty="0"/>
          </a:p>
        </p:txBody>
      </p:sp>
      <p:sp>
        <p:nvSpPr>
          <p:cNvPr id="17" name="Area map block"/>
          <p:cNvSpPr/>
          <p:nvPr/>
        </p:nvSpPr>
        <p:spPr>
          <a:xfrm>
            <a:off x="3611880" y="4343400"/>
            <a:ext cx="4526280" cy="1691640"/>
          </a:xfrm>
          <a:prstGeom prst="roundRect">
            <a:avLst>
              <a:gd name="adj" fmla="val 540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49040" y="44348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Area heat map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749040" y="4846320"/>
            <a:ext cx="4251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Bubbles sized by total orders per area.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54964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What it lets you do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205740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Spot peak hours by weekday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Compare areas by order volume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Rank riders by on-time rate and rating</a:t>
            </a:r>
            <a:endParaRPr lang="en-US" sz="16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Track cancellation rate next to on-time 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Known issues and the fix list</a:t>
            </a:r>
            <a:endParaRPr lang="en-US" sz="3200" dirty="0"/>
          </a:p>
        </p:txBody>
      </p:sp>
      <p:sp>
        <p:nvSpPr>
          <p:cNvPr id="3" name="Issue card 1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ssue number 1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Cancellation shows 100%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26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Status labels such as Complete and Canceled are not mapped to one value, so no order counts as completed.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572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Fix 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Standardize order_status first, then rebuild the rate query.</a:t>
            </a:r>
            <a:endParaRPr lang="en-US" sz="1400" dirty="0"/>
          </a:p>
        </p:txBody>
      </p:sp>
      <p:sp>
        <p:nvSpPr>
          <p:cNvPr id="9" name="Issue card 2"/>
          <p:cNvSpPr/>
          <p:nvPr/>
        </p:nvSpPr>
        <p:spPr>
          <a:xfrm>
            <a:off x="4315968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ssue number 2"/>
          <p:cNvSpPr/>
          <p:nvPr/>
        </p:nvSpPr>
        <p:spPr>
          <a:xfrm>
            <a:off x="4544568" y="16916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456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Midnight spike at hour 0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926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Date-only entries parse to 00:00, so one area shows 457 orders in the hour 0 slot.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44568" y="4572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Fix 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Treat date-only rows as having no time and leave them out of hourly views.</a:t>
            </a:r>
            <a:endParaRPr lang="en-US" sz="1400" dirty="0"/>
          </a:p>
        </p:txBody>
      </p:sp>
      <p:sp>
        <p:nvSpPr>
          <p:cNvPr id="15" name="Issue card 3"/>
          <p:cNvSpPr/>
          <p:nvPr/>
        </p:nvSpPr>
        <p:spPr>
          <a:xfrm>
            <a:off x="8083296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ssue number 3"/>
          <p:cNvSpPr/>
          <p:nvPr/>
        </p:nvSpPr>
        <p:spPr>
          <a:xfrm>
            <a:off x="8311896" y="169164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1189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11896" y="23774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Outliers and duplicates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311896" y="292608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516-minute average delivery and wild revenue swings point to values like 999 minutes. Duplicate rows are never dropped.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11896" y="4572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Fix  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 impossible values, drop duplicates by order_id, merge area spellings.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this project shows</a:t>
            </a:r>
            <a:endParaRPr lang="en-US" sz="3400" dirty="0"/>
          </a:p>
        </p:txBody>
      </p:sp>
      <p:sp>
        <p:nvSpPr>
          <p:cNvPr id="3" name="Takeaway number 1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737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Data cleaning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7373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Turned mixed-format, incomplete data into analysis-ready tables in pandas.</a:t>
            </a:r>
            <a:endParaRPr lang="en-US" sz="1800" dirty="0"/>
          </a:p>
        </p:txBody>
      </p:sp>
      <p:sp>
        <p:nvSpPr>
          <p:cNvPr id="7" name="Takeaway number 2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926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SQL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2926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Window-function queries for delay patterns, rider ranking and growth.</a:t>
            </a:r>
            <a:endParaRPr lang="en-US" sz="1800" dirty="0"/>
          </a:p>
        </p:txBody>
      </p:sp>
      <p:sp>
        <p:nvSpPr>
          <p:cNvPr id="11" name="Takeaway number 3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114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Business intelligence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4114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one-page Power BI dashboard built for operations questions.</a:t>
            </a:r>
            <a:endParaRPr lang="en-US" sz="1800" dirty="0"/>
          </a:p>
        </p:txBody>
      </p:sp>
      <p:sp>
        <p:nvSpPr>
          <p:cNvPr id="15" name="Next steps banner"/>
          <p:cNvSpPr/>
          <p:nvPr/>
        </p:nvSpPr>
        <p:spPr>
          <a:xfrm>
            <a:off x="548640" y="5349240"/>
            <a:ext cx="1110996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34924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Next  </a:t>
            </a:r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Fix the three issues, re-run the queries on clean data, and add a recommendations page.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hore Delivery">
  <a:themeElements>
    <a:clrScheme name="Lahore Delivery">
      <a:dk1>
        <a:srgbClr val="12302F"/>
      </a:dk1>
      <a:lt1>
        <a:srgbClr val="FFFFFF"/>
      </a:lt1>
      <a:dk2>
        <a:srgbClr val="0F3D3E"/>
      </a:dk2>
      <a:lt2>
        <a:srgbClr val="EEF3F1"/>
      </a:lt2>
      <a:accent1>
        <a:srgbClr val="0F3D3E"/>
      </a:accent1>
      <a:accent2>
        <a:srgbClr val="F2A900"/>
      </a:accent2>
      <a:accent3>
        <a:srgbClr val="2E7D6B"/>
      </a:accent3>
      <a:accent4>
        <a:srgbClr val="D9534F"/>
      </a:accent4>
      <a:accent5>
        <a:srgbClr val="5F7471"/>
      </a:accent5>
      <a:accent6>
        <a:srgbClr val="A8C5BE"/>
      </a:accent6>
      <a:hlink>
        <a:srgbClr val="2E7D6B"/>
      </a:hlink>
      <a:folHlink>
        <a:srgbClr val="5F7471"/>
      </a:folHlink>
    </a:clrScheme>
    <a:fontScheme name="Lahore Delive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Lahore Food Delivery: Demand and Delay Analysis</dc:title>
  <dc:subject>PptxGenJS Presentation</dc:subject>
  <dc:creator>Umair Asif</dc:creator>
  <cp:lastModifiedBy>Umair Asif</cp:lastModifiedBy>
  <cp:revision>1</cp:revision>
  <dcterms:created xsi:type="dcterms:W3CDTF">2026-10-06T12:04:42Z</dcterms:created>
  <dcterms:modified xsi:type="dcterms:W3CDTF">2026-10-06T12:04:42Z</dcterms:modified>
</cp:coreProperties>
</file>